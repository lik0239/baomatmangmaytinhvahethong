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0e21e660-3a4f-b173-c95d-5752e8438513}">
          <p14:sldIdLst>
            <p14:sldId id="256"/>
            <p14:sldId id="257"/>
            <p14:sldId id="258"/>
          </p14:sldIdLst>
        </p14:section>
        <p14:section name="Phân tích rủi ro" id="{f3f328b3-e53e-ab5a-c532-00f824f7283e}">
          <p14:sldIdLst>
            <p14:sldId id="259"/>
            <p14:sldId id="260"/>
          </p14:sldIdLst>
        </p14:section>
        <p14:section name="Thiết kế" id="{a6060e86-b883-0087-ac91-dfcc5b360b05}">
          <p14:sldIdLst>
            <p14:sldId id="261"/>
            <p14:sldId id="262"/>
            <p14:sldId id="263"/>
            <p14:sldId id="264"/>
          </p14:sldIdLst>
        </p14:section>
        <p14:section name="Demo và kiểm thử" id="{f76102b2-a998-265c-7aa5-6910c6a7caae}">
          <p14:sldIdLst>
            <p14:sldId id="265"/>
            <p14:sldId id="266"/>
            <p14:sldId id="267"/>
          </p14:sldIdLst>
        </p14:section>
        <p14:section name="Đánh giá" id="{5e3b1fff-2259-1cfb-c1d5-a88866375946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nhóm và đề tài. VeriGuard đứng giữa mọi yêu cầu chuyển tiền và ngân hàng, quyết định cho đi, xác minh thêm, phê duyệt kép hay từ chối.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bằng kịch bản. Nhấn mạnh: lỗ hổng nằm ở tầng Con người và Quy trình (Bài 1), không phải ở firewall.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nguyên tắc trả lời câu hỏi trọng tâm của đề. Căn cứ tin cậy duy nhất là chữ ký số trên thiết bị đã đăng ký.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Chấm theo thang 1-3 của Bài 3. Nhật ký cũng là tài sản (câu hỏi Bài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qua 5 bước Khảo sát, Xác định, Khai thác, Duy trì, Tác động; chỉ ra kiểm soát phòng chống và phát hiện ở từng bước.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ranh giới là một điểm xác minh, ghi log và giảm quyền (Bài 3). Câu hỏi Bài 4: máy nội bộ bị chiếm chỉ tới được API Gateway như mọi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trục ngữ cảnh của Tuần 6: vai trò, thiết bị, vị trí, hành vi, tài nguyên. Mức ALLOW/STEP-UP/DENY lấy từ Tuần 6 slide 9, thêm DUAL cho rủi ro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Tuần 8 dạy RSA-PSS; nhóm dùng Ed25519 cùng họ chữ ký bất đối xứng, là thuật toán của passkey. Đây là re-auth cho từng giao dịch như Bài 5 yêu cầu.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Digest trên slide là giá trị thật của giao dịch INV-1032 trong demo (rút gọn). Cơ chế tương ứng HMAC + timestamp chống replay của webhook thanh toán trong Tuần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95 → DUAL_APPROVAL. Kẻ gian ký bằng khoá của mình → verify thất bại. Giám đốc thật bấm Không phải tôi. Kế toán bấm chuyển lần nữa → PEP chặn.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Chạy demo.py trực tiếp khi thuyết trình. Kịch bản 4 chứng minh hệ thống không chặn nhầm giao dịch hợp lệ dù rủi ro 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rủi ro trong ma trận có ít nhất một test chứng minh kiểm soát hoạt động.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 quan trọng nhất là an toàn và tiện lợi. Ngắn hạn người dùng thấy phiền, dài hạn là thói quen và giảm thiệt hại.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Thẳng thắn về giới hạn: hệ thống kỹ thuật không thay được đào tạo, nhưng biến một sai lầm của một người thành không đủ để mất tiền.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tắt: bám Bài 1, 3, 4, 5, Tuần 6, 7, 8. Mời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VeriGuard · Đồ án cuối kỳ Bảo mật mạng máy tính và hệ thống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VeriGuard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Hệ thống xác minh yêu cầu chuyển tiền chống giả mạo deepfake, email giả và tài khoản bị chiếm cho doanh nghiệp nhỏ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Đồ án cuối kỳ · Bảo mật mạng máy tính và hệ thống · Hướng 1 – Security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Nhóm: ……………………………   ·   GVHD: ……………………………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10:15 sáng, giám đốc gọi video cho kế toán</a:t>
            </a:r>
            <a:endParaRPr lang="en-US" sz="3400" dirty="0"/>
          </a:p>
        </p:txBody>
      </p:sp>
      <p:sp>
        <p:nvSpPr>
          <p:cNvPr id="3" name="story-card"/>
          <p:cNvSpPr/>
          <p:nvPr/>
        </p:nvSpPr>
        <p:spPr>
          <a:xfrm>
            <a:off x="548640" y="1371600"/>
            <a:ext cx="6035040" cy="356616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“Anh đang họp với đối tác, em chuyển gấp 450 triệu đặt cọc vào tài khoản này. Giữ bí mật giúp anh, đừng gọi lại.”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Khuôn mặt đúng. Giọng nói đúng. Tên Zalo đúng.</a:t>
            </a:r>
            <a:endParaRPr lang="en-US" sz="2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Nhưng đó là deepfake.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Quy trình hiện tại dựa vào một giả định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920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4"/>
                </a:solidFill>
              </a:rPr>
              <a:t>“Thông tin trông có vẻ thật thì là thật”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7432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Tài sản có giá trị + môi trường yếu + lỗi con người = cơ hội khai thác (Bài 1)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Hộp thư thật cũng có thể bị chiếm, tên miền có thể bị nhái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“It only takes one mistake from one employee one time” – S. Gibson, tài liệu Tuần 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dựa vào đâu để tin?</a:t>
            </a:r>
            <a:endParaRPr lang="en-US" sz="3400" dirty="0"/>
          </a:p>
        </p:txBody>
      </p:sp>
      <p:sp>
        <p:nvSpPr>
          <p:cNvPr id="3" name="principle-1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badge-1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Kênh liên lạc chỉ là lời khai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Giọng nói, khuôn mặt, email chỉ là Identification, chưa phải Authentication. Không bao giờ ALLOW thẳng.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Bài 5 · Tuần 6</a:t>
            </a:r>
            <a:endParaRPr lang="en-US" sz="1200" dirty="0"/>
          </a:p>
        </p:txBody>
      </p:sp>
      <p:sp>
        <p:nvSpPr>
          <p:cNvPr id="9" name="principle-2"/>
          <p:cNvSpPr/>
          <p:nvPr/>
        </p:nvSpPr>
        <p:spPr>
          <a:xfrm>
            <a:off x="429768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badge-2"/>
          <p:cNvSpPr/>
          <p:nvPr/>
        </p:nvSpPr>
        <p:spPr>
          <a:xfrm>
            <a:off x="4617720" y="17373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Xác minh bằng thứ kẻ giả mạo không có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Chữ ký từ khoá riêng trong thiết bị đã đăng ký, gửi tới số lấy từ danh bạ tin cậy.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Bài 5 FIDO2 · Tuần 8 · TH2</a:t>
            </a:r>
            <a:endParaRPr lang="en-US" sz="1200" dirty="0"/>
          </a:p>
        </p:txBody>
      </p:sp>
      <p:sp>
        <p:nvSpPr>
          <p:cNvPr id="15" name="principle-3"/>
          <p:cNvSpPr/>
          <p:nvPr/>
        </p:nvSpPr>
        <p:spPr>
          <a:xfrm>
            <a:off x="804672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badge-3"/>
          <p:cNvSpPr/>
          <p:nvPr/>
        </p:nvSpPr>
        <p:spPr>
          <a:xfrm>
            <a:off x="8366760" y="173736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Xác minh gắn với đúng giao dịch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Ký trên digest SHA-256 của người yêu cầu, số tiền, tài khoản, người nhận. Đổi 1 ký tự là mất hiệu lực.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Tuần 8 Hash + chữ ký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“Không phải mọi thông tin mà hệ thống nhận được đều đáng tin cậy.” – Đề đồ án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= Khả năng × Tác động</a:t>
            </a:r>
            <a:endParaRPr lang="en-US" sz="3400" dirty="0"/>
          </a:p>
        </p:txBody>
      </p:sp>
      <p:pic>
        <p:nvPicPr>
          <p:cNvPr id="3" name="risk-matrix" descr="D:/BaoMatMangMayTinhVaHeThong/DoAnCuoiKy/sodo/hinh4_ma_tran_rui_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31520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 rủi ro ưu tiên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9202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R1 Deepfake giả danh giám đốc – 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R2 Email, hoá đơn giả – 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R3 Hộp thư thật bị chiếm – 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R4 Đổi số tài khoản sau xác minh – 6</a:t>
            </a:r>
            <a:endParaRPr lang="en-US" sz="1600" dirty="0"/>
          </a:p>
        </p:txBody>
      </p:sp>
      <p:sp>
        <p:nvSpPr>
          <p:cNvPr id="6" name="asset-card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Tài sản cần bảo vệ (Asset Map – Bài 3):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tiền trong tài khoản · quyền ra lệnh chuyển tiền · khoá riêng thiết bị · danh bạ tin cậy · nhật ký kiểm toán · khoá KMS/HSM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Bẻ gãy chuỗi tấn công ở mọi bước</a:t>
            </a:r>
            <a:endParaRPr lang="en-US" sz="3400" dirty="0"/>
          </a:p>
        </p:txBody>
      </p:sp>
      <p:pic>
        <p:nvPicPr>
          <p:cNvPr id="3" name="attack-chain" descr="D:/BaoMatMangMayTinhVaHeThong/DoAnCuoiKy/sodo/hinh3_chuoi_tan_c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4256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Phát hiện ≠ Phòng chống (Bài 1): mỗi bước có ít nhất một lớp chặn, không chờ tới lúc tiền đã đi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theo vùng và mô hình PDP/PEP</a:t>
            </a:r>
            <a:endParaRPr lang="en-US" sz="3400" dirty="0"/>
          </a:p>
        </p:txBody>
      </p:sp>
      <p:pic>
        <p:nvPicPr>
          <p:cNvPr id="3" name="architecture" descr="D:/BaoMatMangMayTinhVaHeThong/DoAnCuoiKy/sodo/hinh1_kien_tr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13816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61120" y="1371600"/>
            <a:ext cx="2651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Internet → DMZ → App → Data, thêm MGMT/Secrets (Bài 4)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PDP quyết định, PEP thực thi (Tuần 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Deny by default: chỉ các luồng có trong danh sách được phép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Máy chủ chỉ giữ khoá công khai; khoá riêng nằm trong Secure Element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chấm điểm ngữ cảnh, không dựa vào một tín hiệu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Tín hiệu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Điểm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Kênh voice/video/email/chat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Người thụ hưởng mới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Tên người nhận không khớp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+40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Tên miền nhái (TH2)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 DMARC fail (Tuần 7)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Ngôn ngữ thúc ép, giữ bí mật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Số tiền ≥ 50 triệu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+15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Ngoài giờ làm việc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+10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Deepfake detector nghi vấn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decision-ALLOW"/>
          <p:cNvSpPr/>
          <p:nvPr/>
        </p:nvSpPr>
        <p:spPr>
          <a:xfrm>
            <a:off x="6675120" y="13716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0" y="1371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ALLOW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371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Portal ký số, điểm ≤ 20</a:t>
            </a:r>
            <a:endParaRPr lang="en-US" sz="1500" dirty="0"/>
          </a:p>
        </p:txBody>
      </p:sp>
      <p:sp>
        <p:nvSpPr>
          <p:cNvPr id="7" name="decision-STEP-UP"/>
          <p:cNvSpPr/>
          <p:nvPr/>
        </p:nvSpPr>
        <p:spPr>
          <a:xfrm>
            <a:off x="6675120" y="23317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STEP-UP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331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Điểm ≤ 60 → xác minh ngoài băng</a:t>
            </a:r>
            <a:endParaRPr lang="en-US" sz="1500" dirty="0"/>
          </a:p>
        </p:txBody>
      </p:sp>
      <p:sp>
        <p:nvSpPr>
          <p:cNvPr id="10" name="decision-DUAL"/>
          <p:cNvSpPr/>
          <p:nvPr/>
        </p:nvSpPr>
        <p:spPr>
          <a:xfrm>
            <a:off x="6675120" y="329184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3291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DUAL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291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Điểm &gt; 60 → + phê duyệt độc lập, chờ 30' nếu TK mới</a:t>
            </a:r>
            <a:endParaRPr lang="en-US" sz="1500" dirty="0"/>
          </a:p>
        </p:txBody>
      </p:sp>
      <p:sp>
        <p:nvSpPr>
          <p:cNvPr id="13" name="decision-DENY"/>
          <p:cNvSpPr/>
          <p:nvPr/>
        </p:nvSpPr>
        <p:spPr>
          <a:xfrm>
            <a:off x="6675120" y="425196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4251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DENY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251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Không có trong danh bạ, chữ ký sai</a:t>
            </a:r>
            <a:endParaRPr lang="en-US" sz="1500" dirty="0"/>
          </a:p>
        </p:txBody>
      </p:sp>
      <p:sp>
        <p:nvSpPr>
          <p:cNvPr id="16" name="detector-note"/>
          <p:cNvSpPr/>
          <p:nvPr/>
        </p:nvSpPr>
        <p:spPr>
          <a:xfrm>
            <a:off x="6675120" y="525780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858000" y="5303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Detector báo “trông thật” không bao giờ làm giảm rủi ro – AI chỉ là “cảnh báo hỗ trợ” (Tuần 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minh ngoài băng bằng chữ ký số</a:t>
            </a:r>
            <a:endParaRPr lang="en-US" sz="3400" dirty="0"/>
          </a:p>
        </p:txBody>
      </p:sp>
      <p:sp>
        <p:nvSpPr>
          <p:cNvPr id="3" name="badge-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Thử thách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nonce 128-bit (CSPRNG) + digest giao dịch, hết hạn 5 phút</a:t>
            </a:r>
            <a:endParaRPr lang="en-US" sz="1500" dirty="0"/>
          </a:p>
        </p:txBody>
      </p:sp>
      <p:sp>
        <p:nvSpPr>
          <p:cNvPr id="7" name="badge-2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Gửi đúng người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26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tới thiết bị và số trong danh bạ – bỏ qua số “gọi lại” kẻ gian đưa</a:t>
            </a:r>
            <a:endParaRPr lang="en-US" sz="1500" dirty="0"/>
          </a:p>
        </p:txBody>
      </p:sp>
      <p:sp>
        <p:nvSpPr>
          <p:cNvPr id="11" name="badge-3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Người thật xem và ký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23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 hiện số tiền, người nhận; mở khoá bằng PIN/sinh trắc rồi ký Ed25519</a:t>
            </a:r>
            <a:endParaRPr lang="en-US" sz="1500" dirty="0"/>
          </a:p>
        </p:txBody>
      </p:sp>
      <p:sp>
        <p:nvSpPr>
          <p:cNvPr id="15" name="badge-4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Kiểm tra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20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bằng khoá công khai; nonce dùng 1 lần, tối đa 3 lần gửi (chống MFA fatigue)</a:t>
            </a:r>
            <a:endParaRPr lang="en-US" sz="1500" dirty="0"/>
          </a:p>
        </p:txBody>
      </p:sp>
      <p:sp>
        <p:nvSpPr>
          <p:cNvPr id="19" name="why-asymmetric"/>
          <p:cNvSpPr/>
          <p:nvPr/>
        </p:nvSpPr>
        <p:spPr>
          <a:xfrm>
            <a:off x="6675120" y="141732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49440" y="16459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Vì sao chữ ký bất đối xứng, không phải HMAC?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46888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HMAC xác thực “nhờ chung khoá” – máy chủ cũng giữ khoá (Tuần 8)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Chữ ký số cho chống chối bỏ: giám đốc không chối được đã duyệt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Máy chủ bị chiếm vẫn không giả được xác nhận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Cùng mô hình Passkeys/FIDO2 (Bài 5): private key trên thiết bị, public key trên server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xác nhận chỉ có giá trị cho đúng một giao dịch</a:t>
            </a:r>
            <a:endParaRPr lang="en-US" sz="3400" dirty="0"/>
          </a:p>
        </p:txBody>
      </p:sp>
      <p:sp>
        <p:nvSpPr>
          <p:cNvPr id="3" name="digest-before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Đã xác nhận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25.000.000 → 0451000765432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  a3a8…11db</a:t>
            </a:r>
            <a:endParaRPr lang="en-US" sz="1800" dirty="0"/>
          </a:p>
        </p:txBody>
      </p:sp>
      <p:sp>
        <p:nvSpPr>
          <p:cNvPr id="5" name="digest-after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EBE6"/>
          </a:solidFill>
          <a:ln w="12700">
            <a:solidFill>
              <a:srgbClr val="FDEBE6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9224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Kẻ gian đổi số tài khoản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25.000.000 → 9704229988776655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  4ed1…ab1c  ≠  → PEP CHẶN</a:t>
            </a:r>
            <a:endParaRPr lang="en-US" sz="1800" dirty="0"/>
          </a:p>
        </p:txBody>
      </p:sp>
      <p:sp>
        <p:nvSpPr>
          <p:cNvPr id="7" name="bind-1"/>
          <p:cNvSpPr/>
          <p:nvPr/>
        </p:nvSpPr>
        <p:spPr>
          <a:xfrm>
            <a:off x="548640" y="3886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023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Đổi số tiền / tài khoản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✓ PEP so lại digest</a:t>
            </a:r>
            <a:endParaRPr lang="en-US" sz="1500" dirty="0"/>
          </a:p>
        </p:txBody>
      </p:sp>
      <p:sp>
        <p:nvSpPr>
          <p:cNvPr id="10" name="bind-2"/>
          <p:cNvSpPr/>
          <p:nvPr/>
        </p:nvSpPr>
        <p:spPr>
          <a:xfrm>
            <a:off x="3360420" y="3886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43300" y="4023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Phát lại phản hồi cũ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330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✓ nonce dùng một lần</a:t>
            </a:r>
            <a:endParaRPr lang="en-US" sz="1500" dirty="0"/>
          </a:p>
        </p:txBody>
      </p:sp>
      <p:sp>
        <p:nvSpPr>
          <p:cNvPr id="13" name="bind-3"/>
          <p:cNvSpPr/>
          <p:nvPr/>
        </p:nvSpPr>
        <p:spPr>
          <a:xfrm>
            <a:off x="6172200" y="3886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55080" y="4023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Phản hồi trễ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✓ hết hạn sau 5 phút</a:t>
            </a:r>
            <a:endParaRPr lang="en-US" sz="1500" dirty="0"/>
          </a:p>
        </p:txBody>
      </p:sp>
      <p:sp>
        <p:nvSpPr>
          <p:cNvPr id="16" name="bind-4"/>
          <p:cNvSpPr/>
          <p:nvPr/>
        </p:nvSpPr>
        <p:spPr>
          <a:xfrm>
            <a:off x="8983980" y="3886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66860" y="4023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Dùng xác nhận 20tr cho lệnh 450tr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6686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✓ thử thách gắn digest riêng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“Dữ liệu thay đổi 1 bit → hash thay đổi hoàn toàn” nhưng “Hash không tự xác thực” – nên digest luôn nằm bên trong chữ ký (Tuần 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deepfake đi qua VeriGuard</a:t>
            </a:r>
            <a:endParaRPr lang="en-US" sz="3400" dirty="0"/>
          </a:p>
        </p:txBody>
      </p:sp>
      <p:pic>
        <p:nvPicPr>
          <p:cNvPr id="3" name="deepfake-sequence" descr="D:/BaoMatMangMayTinhVaHeThong/DoAnCuoiKy/sodo/hinh2_luong_deepf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9418320" cy="5056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4 kịch bản trong prototype</a:t>
            </a:r>
            <a:endParaRPr lang="en-US" sz="3400" dirty="0"/>
          </a:p>
        </p:txBody>
      </p:sp>
      <p:sp>
        <p:nvSpPr>
          <p:cNvPr id="3" name="demo-1"/>
          <p:cNvSpPr/>
          <p:nvPr/>
        </p:nvSpPr>
        <p:spPr>
          <a:xfrm>
            <a:off x="548640" y="14173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badge-1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Kế toán thanh toán hoá đơn qua email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23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STEP-UP → xác nhận trên app → THỰC THI</a:t>
            </a:r>
            <a:endParaRPr lang="en-US" sz="1500" dirty="0"/>
          </a:p>
        </p:txBody>
      </p:sp>
      <p:sp>
        <p:nvSpPr>
          <p:cNvPr id="8" name="demo-2"/>
          <p:cNvSpPr/>
          <p:nvPr/>
        </p:nvSpPr>
        <p:spPr>
          <a:xfrm>
            <a:off x="6217920" y="141732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badge-2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691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Video call deepfake “giám đốc” 450 triệu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423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Điểm 95 · chữ ký giả bị từ chối · CHẶN</a:t>
            </a:r>
            <a:endParaRPr lang="en-US" sz="1500" dirty="0"/>
          </a:p>
        </p:txBody>
      </p:sp>
      <p:sp>
        <p:nvSpPr>
          <p:cNvPr id="13" name="demo-3"/>
          <p:cNvSpPr/>
          <p:nvPr/>
        </p:nvSpPr>
        <p:spPr>
          <a:xfrm>
            <a:off x="548640" y="35661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badge-3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840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Đổi số tài khoản sau khi đã xác nhận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72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Digest thay đổi · PEP CHẶN</a:t>
            </a:r>
            <a:endParaRPr lang="en-US" sz="1500" dirty="0"/>
          </a:p>
        </p:txBody>
      </p:sp>
      <p:sp>
        <p:nvSpPr>
          <p:cNvPr id="18" name="demo-4"/>
          <p:cNvSpPr/>
          <p:nvPr/>
        </p:nvSpPr>
        <p:spPr>
          <a:xfrm>
            <a:off x="6217920" y="35661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9" name="badge-4"/>
          <p:cNvSpPr/>
          <p:nvPr/>
        </p:nvSpPr>
        <p:spPr>
          <a:xfrm>
            <a:off x="6492240" y="38404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840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Giám đốc thật đặt cọc 300 triệu, NCC mới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572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Tự duyệt bị cấm · KTT duyệt · chờ 30' → THỰC THI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Chạy trực tiếp: python demo.py   ·   20 sự kiện nhật ký, verify_chain() = True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test case, 22 đạt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test case đạt (python -m unittest)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bình thường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rủi ro</a:t>
            </a:r>
            <a:endParaRPr lang="en-US" sz="4000" dirty="0"/>
          </a:p>
        </p:txBody>
      </p:sp>
      <p:sp>
        <p:nvSpPr>
          <p:cNvPr id="7" name="test-group-1"/>
          <p:cNvSpPr/>
          <p:nvPr/>
        </p:nvSpPr>
        <p:spPr>
          <a:xfrm>
            <a:off x="4846320" y="141732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74920" y="1527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Giả mạo đầu vào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TC04–TC11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8928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deepfake trông thật, chữ ký giả, số gọi lại, tên miền nhái, DMARC fail, tên người nhận sai</a:t>
            </a:r>
            <a:endParaRPr lang="en-US" sz="1400" dirty="0"/>
          </a:p>
        </p:txBody>
      </p:sp>
      <p:sp>
        <p:nvSpPr>
          <p:cNvPr id="11" name="test-group-2"/>
          <p:cNvSpPr/>
          <p:nvPr/>
        </p:nvSpPr>
        <p:spPr>
          <a:xfrm>
            <a:off x="4846320" y="256032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74920" y="2670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Sửa đổi và sai ngữ cảnh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TC12–TC16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0358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MITM sửa số tiền, đổi tài khoản, replay, hết hạn, dùng xác nhận cho giao dịch khác</a:t>
            </a:r>
            <a:endParaRPr lang="en-US" sz="1400" dirty="0"/>
          </a:p>
        </p:txBody>
      </p:sp>
      <p:sp>
        <p:nvSpPr>
          <p:cNvPr id="15" name="test-group-3"/>
          <p:cNvSpPr/>
          <p:nvPr/>
        </p:nvSpPr>
        <p:spPr>
          <a:xfrm>
            <a:off x="4846320" y="370332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74920" y="3813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Chiếm tài khoản và phân quyền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3813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TC17–TC20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41788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hộp thư bị chiếm, tự duyệt, duyệt số tiền cũ, spam xác nhận</a:t>
            </a:r>
            <a:endParaRPr lang="en-US" sz="1400" dirty="0"/>
          </a:p>
        </p:txBody>
      </p:sp>
      <p:sp>
        <p:nvSpPr>
          <p:cNvPr id="19" name="test-group-4"/>
          <p:cNvSpPr/>
          <p:nvPr/>
        </p:nvSpPr>
        <p:spPr>
          <a:xfrm>
            <a:off x="4846320" y="484632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74920" y="4956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Toàn vẹn và mật mã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4956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TC21–TC22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53218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sửa nhật ký, test vector Ed25519 RFC 8032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an toàn hơn thì phải trả giá gì?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10896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Đánh đổi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Ngắn hạn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Dài hạn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Nhóm chọn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 toàn ↔ tiện lợi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Xác minh mỗi lệnh, chờ 30' gây phiền, chậm thanh toán gấp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Thành thói quen; tránh một vụ mất tiền bù chi phí nhiều năm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Chờ chỉ cho người nhận mới; portal ký số được ALLOW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 phát hiện ↔ xác minh kênh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Detector có vẻ hiện đại, ít đổi quy trình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Chạy đua giả mạo: detector sẽ bị qua mặt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Không dựa vào detector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Chi phí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Dùng điện thoại sẵn có (passkey)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Quy mô lớn cần HSM, security key FIDO2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Bắt đầu nhỏ, nâng cấp dần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Riêng tư nhân viên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 IP, thiết bị, giờ để chấm điểm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Thành hồ sơ hành vi nhân viên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Thu tối thiểu, giới hạn thời gian lưu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“A powerful technique… also really painful” – Gibson về allowlisting, tài liệu Tuần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còn lại và hướng phát triển</a:t>
            </a:r>
            <a:endParaRPr lang="en-US" sz="3400" dirty="0"/>
          </a:p>
        </p:txBody>
      </p:sp>
      <p:sp>
        <p:nvSpPr>
          <p:cNvPr id="3" name="residual"/>
          <p:cNvSpPr/>
          <p:nvPr/>
        </p:nvSpPr>
        <p:spPr>
          <a:xfrm>
            <a:off x="548640" y="14173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DEBE6"/>
          </a:solidFill>
          <a:ln w="12700">
            <a:solidFill>
              <a:srgbClr val="FDEBE6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Rủi ro tồn dư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Chính giám đốc bị lừa và tự ký: chỉ còn phê duyệt kép và thời gian chờ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Kẻ chiếm quyền quản trị thay khoá công khai: giảm bằng PAM + 2 người duyệt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Trọng số do nhóm đặt, chưa hiệu chỉnh bằng dữ liệu thật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Ed25519 tự cài chỉ cho prototype – “Không tự chế mật mã” (Tuần 8)</a:t>
            </a:r>
            <a:endParaRPr lang="en-US" sz="1700" dirty="0"/>
          </a:p>
        </p:txBody>
      </p:sp>
      <p:sp>
        <p:nvSpPr>
          <p:cNvPr id="6" name="next-steps"/>
          <p:cNvSpPr/>
          <p:nvPr/>
        </p:nvSpPr>
        <p:spPr>
          <a:xfrm>
            <a:off x="6217920" y="14173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Hướng phát triển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WebAuthn/passkey thật, khoá kiểm toán trong HSM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Neo mã cuối chuỗi nhật ký ra hệ thống độc lập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Tương quan đăng nhập bất thường kiểu TH3 với yêu cầu chuyển tiền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Mở rộng sang đổi thông tin nhà cung cấp, tài khoản lương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tin vì nhìn thấy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Chỉ tin khi có chữ ký từ khoá riêng trên thiết bị đã đăng ký, gắn với đúng giao dịch – và với rủi ro cao, cần thêm người thứ hai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Cảm ơn thầy cô và các bạn đã lắng nghe · Hỏi đáp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Guard">
  <a:themeElements>
    <a:clrScheme name="VeriGuard">
      <a:dk1>
        <a:srgbClr val="14213D"/>
      </a:dk1>
      <a:lt1>
        <a:srgbClr val="FFFFFF"/>
      </a:lt1>
      <a:dk2>
        <a:srgbClr val="0B1526"/>
      </a:dk2>
      <a:lt2>
        <a:srgbClr val="EEF2F7"/>
      </a:lt2>
      <a:accent1>
        <a:srgbClr val="E4572E"/>
      </a:accent1>
      <a:accent2>
        <a:srgbClr val="2A9D8F"/>
      </a:accent2>
      <a:accent3>
        <a:srgbClr val="F2A541"/>
      </a:accent3>
      <a:accent4>
        <a:srgbClr val="3D5A80"/>
      </a:accent4>
      <a:accent5>
        <a:srgbClr val="98C1D9"/>
      </a:accent5>
      <a:accent6>
        <a:srgbClr val="6C757D"/>
      </a:accent6>
      <a:hlink>
        <a:srgbClr val="3D5A80"/>
      </a:hlink>
      <a:folHlink>
        <a:srgbClr val="6C757D"/>
      </a:folHlink>
    </a:clrScheme>
    <a:fontScheme name="Veri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VeriGuard - Đồ án cuối kỳ</dc:title>
  <dc:subject>PptxGenJS Presentation</dc:subject>
  <dc:creator>PptxGenJS</dc:creator>
  <cp:lastModifiedBy>PptxGenJS</cp:lastModifiedBy>
  <cp:revision>1</cp:revision>
  <dcterms:created xsi:type="dcterms:W3CDTF">2026-10-19T12:23:25Z</dcterms:created>
  <dcterms:modified xsi:type="dcterms:W3CDTF">2026-10-19T12:23:25Z</dcterms:modified>
</cp:coreProperties>
</file>